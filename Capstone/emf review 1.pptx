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75C715-88F5-4E15-A45C-33F6C9E89458}" v="11" dt="2026-08-05T06:23:04.3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an Deekshith Konjeti" userId="73d551a9ccc63556" providerId="LiveId" clId="{F646B8E6-3F3A-4CC6-BF60-0C72C1FF837C}"/>
    <pc:docChg chg="modSld">
      <pc:chgData name="Pavan Deekshith Konjeti" userId="73d551a9ccc63556" providerId="LiveId" clId="{F646B8E6-3F3A-4CC6-BF60-0C72C1FF837C}" dt="2026-08-05T06:23:54.531" v="29" actId="1076"/>
      <pc:docMkLst>
        <pc:docMk/>
      </pc:docMkLst>
      <pc:sldChg chg="addSp modSp mod">
        <pc:chgData name="Pavan Deekshith Konjeti" userId="73d551a9ccc63556" providerId="LiveId" clId="{F646B8E6-3F3A-4CC6-BF60-0C72C1FF837C}" dt="2026-08-05T06:23:54.531" v="29" actId="1076"/>
        <pc:sldMkLst>
          <pc:docMk/>
          <pc:sldMk cId="0" sldId="256"/>
        </pc:sldMkLst>
        <pc:spChg chg="mod">
          <ac:chgData name="Pavan Deekshith Konjeti" userId="73d551a9ccc63556" providerId="LiveId" clId="{F646B8E6-3F3A-4CC6-BF60-0C72C1FF837C}" dt="2026-08-05T06:23:41.126" v="27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8-05T06:23:48.573" v="28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8-05T06:22:25.442" v="18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Pavan Deekshith Konjeti" userId="73d551a9ccc63556" providerId="LiveId" clId="{F646B8E6-3F3A-4CC6-BF60-0C72C1FF837C}" dt="2026-08-05T06:21:05.036" v="7" actId="20577"/>
          <ac:spMkLst>
            <pc:docMk/>
            <pc:sldMk cId="0" sldId="256"/>
            <ac:spMk id="13" creationId="{00000000-0000-0000-0000-000000000000}"/>
          </ac:spMkLst>
        </pc:spChg>
        <pc:spChg chg="add mod">
          <ac:chgData name="Pavan Deekshith Konjeti" userId="73d551a9ccc63556" providerId="LiveId" clId="{F646B8E6-3F3A-4CC6-BF60-0C72C1FF837C}" dt="2026-08-05T06:23:54.531" v="29" actId="1076"/>
          <ac:spMkLst>
            <pc:docMk/>
            <pc:sldMk cId="0" sldId="256"/>
            <ac:spMk id="14" creationId="{B3F0B395-2DB9-504F-921D-E8F590A2931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797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logo_sim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777240" cy="777240"/>
          </a:xfrm>
          <a:prstGeom prst="rect">
            <a:avLst/>
          </a:prstGeom>
        </p:spPr>
      </p:pic>
      <p:pic>
        <p:nvPicPr>
          <p:cNvPr id="3" name="Image 1" descr="/home/claude/ppt/logo_s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56032"/>
            <a:ext cx="758952" cy="7772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320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SIMATS ENGINEERING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SAVEETHA INSTITUTE OF MEDICAL AND TECHNICAL SCIENCES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57200" y="10789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CHENNAI-602105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CAPSTONE PROJECT PRESENTATION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34804" y="198882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IoT-BASED SMART GRID POWER QUALITY MONITOR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08076" y="2525151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Pharmacy Critical-Load Power Quality Monitoring using ESP32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736515" y="471811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BY: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8798659" y="5038158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Konjeti Pavan Deekshith-192412172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Kalavakunta Karthik Arjun-192412650</a:t>
            </a:r>
          </a:p>
          <a:p>
            <a:pPr>
              <a:lnSpc>
                <a:spcPct val="13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 Kodandaram-192312565</a:t>
            </a:r>
          </a:p>
        </p:txBody>
      </p:sp>
      <p:sp>
        <p:nvSpPr>
          <p:cNvPr id="12" name="Text 8"/>
          <p:cNvSpPr/>
          <p:nvPr/>
        </p:nvSpPr>
        <p:spPr>
          <a:xfrm>
            <a:off x="640080" y="471811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SUPERVISED BY: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708660" y="5162135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dirty="0"/>
              <a:t>Dr .Joselin Jeya Sheela J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F0B395-2DB9-504F-921D-E8F590A29315}"/>
              </a:ext>
            </a:extLst>
          </p:cNvPr>
          <p:cNvSpPr txBox="1"/>
          <p:nvPr/>
        </p:nvSpPr>
        <p:spPr>
          <a:xfrm>
            <a:off x="3745523" y="3134799"/>
            <a:ext cx="4659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ECA0501-Engineering Electromagnetics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logo_sim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777240" cy="777240"/>
          </a:xfrm>
          <a:prstGeom prst="rect">
            <a:avLst/>
          </a:prstGeom>
        </p:spPr>
      </p:pic>
      <p:pic>
        <p:nvPicPr>
          <p:cNvPr id="3" name="Image 1" descr="/home/claude/ppt/logo_s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56032"/>
            <a:ext cx="758952" cy="7772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3200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05840" y="1371600"/>
            <a:ext cx="10149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Unstable Grid Reality: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Voltage sags, surges, and overcurrent events are common on shared or weak grid connections and often go unnoticed until equipment fails.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Critical-Load Exposure: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Small businesses and pharmacies run temperature-sensitive equipment (fridges, POS systems) directly off unmonitored mains supply.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IoT-Enabled Awareness: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This project implements an ESP32-based monitor that continuously senses voltage and current, displays live status locally, and pushes real-time alerts to a cloud dashboard so staff can act before damage occurs.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logo_sim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777240" cy="777240"/>
          </a:xfrm>
          <a:prstGeom prst="rect">
            <a:avLst/>
          </a:prstGeom>
        </p:spPr>
      </p:pic>
      <p:pic>
        <p:nvPicPr>
          <p:cNvPr id="3" name="Image 1" descr="/home/claude/ppt/logo_s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56032"/>
            <a:ext cx="758952" cy="7772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3200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05840" y="1371600"/>
            <a:ext cx="10149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Real-Time Sensing: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Continuously measure line voltage (ZMPT101B) and load current (ACS712) using an ESP32 microcontroller.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Fault Detection Logic: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Program threshold-based detection for voltage sag, voltage surge, and overcurrent conditions.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Local + Remote Visibility: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Display live readings on an OLED screen and stream data to an Adafruit IO dashboard over Wi-Fi.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Actionable Alerts: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Notify staff instantly of abnormal conditions so they can switch to backup power or unplug critical loads.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logo_sim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777240" cy="777240"/>
          </a:xfrm>
          <a:prstGeom prst="rect">
            <a:avLst/>
          </a:prstGeom>
        </p:spPr>
      </p:pic>
      <p:pic>
        <p:nvPicPr>
          <p:cNvPr id="3" name="Image 1" descr="/home/claude/ppt/logo_s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56032"/>
            <a:ext cx="758952" cy="7772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3200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1"/>
          <p:cNvSpPr/>
          <p:nvPr/>
        </p:nvSpPr>
        <p:spPr>
          <a:xfrm>
            <a:off x="1005840" y="1371600"/>
            <a:ext cx="10149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Silent Failures: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Voltage sags and surges on unstable supply lines damage compressors and electronics gradually, with no warning to staff until the fridge or equipment stops working.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Spoilage Risk: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Pharmacies storing temperature-sensitive medicines and vaccines risk major financial and public-health loss if a power event goes unnoticed for even a few hours.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No Remote Insight: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Standard mains connections give no live, remote visibility into power quality - staff only discover a problem after the damage is already done.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logo_sim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777240" cy="777240"/>
          </a:xfrm>
          <a:prstGeom prst="rect">
            <a:avLst/>
          </a:prstGeom>
        </p:spPr>
      </p:pic>
      <p:pic>
        <p:nvPicPr>
          <p:cNvPr id="3" name="Image 1" descr="/home/claude/ppt/logo_s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56032"/>
            <a:ext cx="758952" cy="7772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Literature Surveys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594360" y="1234440"/>
            <a:ext cx="2194560" cy="502920"/>
          </a:xfrm>
          <a:prstGeom prst="rect">
            <a:avLst/>
          </a:prstGeom>
          <a:solidFill>
            <a:srgbClr val="2E5395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94360" y="12344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Author / Year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2788920" y="1234440"/>
            <a:ext cx="2743200" cy="502920"/>
          </a:xfrm>
          <a:prstGeom prst="rect">
            <a:avLst/>
          </a:prstGeom>
          <a:solidFill>
            <a:srgbClr val="2E5395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788920" y="1234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Method / Technology Used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532120" y="1234440"/>
            <a:ext cx="3566160" cy="502920"/>
          </a:xfrm>
          <a:prstGeom prst="rect">
            <a:avLst/>
          </a:prstGeom>
          <a:solidFill>
            <a:srgbClr val="2E5395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532120" y="12344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Key Contribution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9098280" y="1234440"/>
            <a:ext cx="2606040" cy="502920"/>
          </a:xfrm>
          <a:prstGeom prst="rect">
            <a:avLst/>
          </a:prstGeom>
          <a:solidFill>
            <a:srgbClr val="2E5395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9098280" y="12344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Limitations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94360" y="1737360"/>
            <a:ext cx="2194560" cy="914400"/>
          </a:xfrm>
          <a:prstGeom prst="rect">
            <a:avLst/>
          </a:prstGeom>
          <a:solidFill>
            <a:srgbClr val="D9E2F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67512" y="1737360"/>
            <a:ext cx="20482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Kavitha &amp; Rao, 2020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2788920" y="1737360"/>
            <a:ext cx="2743200" cy="914400"/>
          </a:xfrm>
          <a:prstGeom prst="rect">
            <a:avLst/>
          </a:prstGeom>
          <a:solidFill>
            <a:srgbClr val="D9E2F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2862072" y="1737360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ESP32-Based IoT Power Monitor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5532120" y="1737360"/>
            <a:ext cx="3566160" cy="914400"/>
          </a:xfrm>
          <a:prstGeom prst="rect">
            <a:avLst/>
          </a:prstGeom>
          <a:solidFill>
            <a:srgbClr val="D9E2F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5605272" y="1737360"/>
            <a:ext cx="3419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Enabled real-time voltage &amp; current monitoring with cloud dashboards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9098280" y="1737360"/>
            <a:ext cx="2606040" cy="914400"/>
          </a:xfrm>
          <a:prstGeom prst="rect">
            <a:avLst/>
          </a:prstGeom>
          <a:solidFill>
            <a:srgbClr val="D9E2F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9171432" y="1737360"/>
            <a:ext cx="2459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Accuracy affected by low-cost sensor calibration drift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594360" y="2651760"/>
            <a:ext cx="2194560" cy="914400"/>
          </a:xfrm>
          <a:prstGeom prst="rect">
            <a:avLst/>
          </a:prstGeom>
          <a:solidFill>
            <a:srgbClr val="EDF1F9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667512" y="2651760"/>
            <a:ext cx="20482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Patel et al., 2019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2788920" y="2651760"/>
            <a:ext cx="2743200" cy="914400"/>
          </a:xfrm>
          <a:prstGeom prst="rect">
            <a:avLst/>
          </a:prstGeom>
          <a:solidFill>
            <a:srgbClr val="EDF1F9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2862072" y="2651760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ACS712 / ZMPT101B Sensing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5532120" y="2651760"/>
            <a:ext cx="3566160" cy="914400"/>
          </a:xfrm>
          <a:prstGeom prst="rect">
            <a:avLst/>
          </a:prstGeom>
          <a:solidFill>
            <a:srgbClr val="EDF1F9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5605272" y="2651760"/>
            <a:ext cx="3419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Demonstrated low-cost, non-invasive voltage &amp; current sensing for embedded systems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9098280" y="2651760"/>
            <a:ext cx="2606040" cy="914400"/>
          </a:xfrm>
          <a:prstGeom prst="rect">
            <a:avLst/>
          </a:prstGeom>
          <a:solidFill>
            <a:srgbClr val="EDF1F9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9171432" y="2651760"/>
            <a:ext cx="2459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Limited to single-phase, small-load applications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594360" y="3566160"/>
            <a:ext cx="2194560" cy="914400"/>
          </a:xfrm>
          <a:prstGeom prst="rect">
            <a:avLst/>
          </a:prstGeom>
          <a:solidFill>
            <a:srgbClr val="D9E2F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667512" y="3566160"/>
            <a:ext cx="20482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Zhou &amp; Lee, 2021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7"/>
          <p:cNvSpPr/>
          <p:nvPr/>
        </p:nvSpPr>
        <p:spPr>
          <a:xfrm>
            <a:off x="2788920" y="3566160"/>
            <a:ext cx="2743200" cy="914400"/>
          </a:xfrm>
          <a:prstGeom prst="rect">
            <a:avLst/>
          </a:prstGeom>
          <a:solidFill>
            <a:srgbClr val="D9E2F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2862072" y="3566160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Smart Grid Power Quality Analytics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29"/>
          <p:cNvSpPr/>
          <p:nvPr/>
        </p:nvSpPr>
        <p:spPr>
          <a:xfrm>
            <a:off x="5532120" y="3566160"/>
            <a:ext cx="3566160" cy="914400"/>
          </a:xfrm>
          <a:prstGeom prst="rect">
            <a:avLst/>
          </a:prstGeom>
          <a:solidFill>
            <a:srgbClr val="D9E2F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5605272" y="3566160"/>
            <a:ext cx="3419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Improved detection of voltage sag/surge events using threshold-based algorithms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1"/>
          <p:cNvSpPr/>
          <p:nvPr/>
        </p:nvSpPr>
        <p:spPr>
          <a:xfrm>
            <a:off x="9098280" y="3566160"/>
            <a:ext cx="2606040" cy="914400"/>
          </a:xfrm>
          <a:prstGeom prst="rect">
            <a:avLst/>
          </a:prstGeom>
          <a:solidFill>
            <a:srgbClr val="D9E2F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2"/>
          <p:cNvSpPr/>
          <p:nvPr/>
        </p:nvSpPr>
        <p:spPr>
          <a:xfrm>
            <a:off x="9171432" y="3566160"/>
            <a:ext cx="2459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Needs large datasets to fine-tune thresholds for varied loads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3"/>
          <p:cNvSpPr/>
          <p:nvPr/>
        </p:nvSpPr>
        <p:spPr>
          <a:xfrm>
            <a:off x="594360" y="4480560"/>
            <a:ext cx="2194560" cy="914400"/>
          </a:xfrm>
          <a:prstGeom prst="rect">
            <a:avLst/>
          </a:prstGeom>
          <a:solidFill>
            <a:srgbClr val="EDF1F9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4"/>
          <p:cNvSpPr/>
          <p:nvPr/>
        </p:nvSpPr>
        <p:spPr>
          <a:xfrm>
            <a:off x="667512" y="4480560"/>
            <a:ext cx="20482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Reddy &amp; Sharma, 2022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5"/>
          <p:cNvSpPr/>
          <p:nvPr/>
        </p:nvSpPr>
        <p:spPr>
          <a:xfrm>
            <a:off x="2788920" y="4480560"/>
            <a:ext cx="2743200" cy="914400"/>
          </a:xfrm>
          <a:prstGeom prst="rect">
            <a:avLst/>
          </a:prstGeom>
          <a:solidFill>
            <a:srgbClr val="EDF1F9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6"/>
          <p:cNvSpPr/>
          <p:nvPr/>
        </p:nvSpPr>
        <p:spPr>
          <a:xfrm>
            <a:off x="2862072" y="4480560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IoT Cold-Chain Monitoring (Adafruit IO)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7"/>
          <p:cNvSpPr/>
          <p:nvPr/>
        </p:nvSpPr>
        <p:spPr>
          <a:xfrm>
            <a:off x="5532120" y="4480560"/>
            <a:ext cx="3566160" cy="914400"/>
          </a:xfrm>
          <a:prstGeom prst="rect">
            <a:avLst/>
          </a:prstGeom>
          <a:solidFill>
            <a:srgbClr val="EDF1F9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8"/>
          <p:cNvSpPr/>
          <p:nvPr/>
        </p:nvSpPr>
        <p:spPr>
          <a:xfrm>
            <a:off x="5605272" y="4480560"/>
            <a:ext cx="3419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Enabled remote alerts for medical refrigeration to prevent vaccine spoilage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39"/>
          <p:cNvSpPr/>
          <p:nvPr/>
        </p:nvSpPr>
        <p:spPr>
          <a:xfrm>
            <a:off x="9098280" y="4480560"/>
            <a:ext cx="2606040" cy="914400"/>
          </a:xfrm>
          <a:prstGeom prst="rect">
            <a:avLst/>
          </a:prstGeom>
          <a:solidFill>
            <a:srgbClr val="EDF1F9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9171432" y="4480560"/>
            <a:ext cx="2459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Dependent on stable Wi-Fi connectivity for real-time alerts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1"/>
          <p:cNvSpPr/>
          <p:nvPr/>
        </p:nvSpPr>
        <p:spPr>
          <a:xfrm>
            <a:off x="594360" y="5394960"/>
            <a:ext cx="2194560" cy="914400"/>
          </a:xfrm>
          <a:prstGeom prst="rect">
            <a:avLst/>
          </a:prstGeom>
          <a:solidFill>
            <a:srgbClr val="D9E2F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667512" y="5394960"/>
            <a:ext cx="20482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Fernandes et al., 2018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3"/>
          <p:cNvSpPr/>
          <p:nvPr/>
        </p:nvSpPr>
        <p:spPr>
          <a:xfrm>
            <a:off x="2788920" y="5394960"/>
            <a:ext cx="2743200" cy="914400"/>
          </a:xfrm>
          <a:prstGeom prst="rect">
            <a:avLst/>
          </a:prstGeom>
          <a:solidFill>
            <a:srgbClr val="D9E2F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4"/>
          <p:cNvSpPr/>
          <p:nvPr/>
        </p:nvSpPr>
        <p:spPr>
          <a:xfrm>
            <a:off x="2862072" y="5394960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Relay-Based Load Protection Systems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5"/>
          <p:cNvSpPr/>
          <p:nvPr/>
        </p:nvSpPr>
        <p:spPr>
          <a:xfrm>
            <a:off x="5532120" y="5394960"/>
            <a:ext cx="3566160" cy="914400"/>
          </a:xfrm>
          <a:prstGeom prst="rect">
            <a:avLst/>
          </a:prstGeom>
          <a:solidFill>
            <a:srgbClr val="D9E2F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6"/>
          <p:cNvSpPr/>
          <p:nvPr/>
        </p:nvSpPr>
        <p:spPr>
          <a:xfrm>
            <a:off x="5605272" y="5394960"/>
            <a:ext cx="3419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Automated disconnection of loads during unsafe voltage conditions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47"/>
          <p:cNvSpPr/>
          <p:nvPr/>
        </p:nvSpPr>
        <p:spPr>
          <a:xfrm>
            <a:off x="9098280" y="5394960"/>
            <a:ext cx="2606040" cy="914400"/>
          </a:xfrm>
          <a:prstGeom prst="rect">
            <a:avLst/>
          </a:prstGeom>
          <a:solidFill>
            <a:srgbClr val="D9E2F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48"/>
          <p:cNvSpPr/>
          <p:nvPr/>
        </p:nvSpPr>
        <p:spPr>
          <a:xfrm>
            <a:off x="9171432" y="5394960"/>
            <a:ext cx="2459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Added hardware cost and risk of nuisance tripping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4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66666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logo_sim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777240" cy="777240"/>
          </a:xfrm>
          <a:prstGeom prst="rect">
            <a:avLst/>
          </a:prstGeom>
        </p:spPr>
      </p:pic>
      <p:pic>
        <p:nvPicPr>
          <p:cNvPr id="3" name="Image 1" descr="/home/claude/ppt/logo_s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56032"/>
            <a:ext cx="758952" cy="7772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3200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Module 1: Sensing and Data Acquisition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99262" y="1318564"/>
            <a:ext cx="8090611" cy="53669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Voltage Sensing (ZMPT101B):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Steps down and isolates the AC mains voltage into a safe analog signal the ESP32's ADC can read, forming the basis for RMS voltage calculation.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Current Sensing (ACS712 / SCT-013):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Uses the Hall-effect / current-transformer principle to convert load current into a proportional analog voltage without breaking the circuit.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Signal Sampling: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The ESP32 samples both analog channels at high frequency and computes RMS voltage, RMS current, real power, and power factor in real time.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Safe Test Environment: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 low-voltage transformer and switchable load bank simulate mains behavior on the bench, allowing safe, repeatable fault demonstrations.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8823960" y="1417320"/>
            <a:ext cx="1463040" cy="1097280"/>
          </a:xfrm>
          <a:prstGeom prst="roundRect">
            <a:avLst>
              <a:gd name="adj" fmla="val 5000"/>
            </a:avLst>
          </a:prstGeom>
          <a:solidFill>
            <a:srgbClr val="EAF1FB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8999525" y="1812341"/>
            <a:ext cx="1111910" cy="321869"/>
          </a:xfrm>
          <a:prstGeom prst="wave">
            <a:avLst/>
          </a:prstGeom>
          <a:solidFill>
            <a:srgbClr val="1F77B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823960" y="13990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V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80924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Voltage Sensor (ZMPT101B)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8823960" y="3520440"/>
            <a:ext cx="1463040" cy="1097280"/>
          </a:xfrm>
          <a:prstGeom prst="roundRect">
            <a:avLst>
              <a:gd name="adj" fmla="val 5000"/>
            </a:avLst>
          </a:prstGeom>
          <a:solidFill>
            <a:srgbClr val="EAF6EF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9233611" y="3696005"/>
            <a:ext cx="643738" cy="731520"/>
          </a:xfrm>
          <a:prstGeom prst="ellipse">
            <a:avLst/>
          </a:prstGeom>
          <a:ln w="317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911742" y="4061765"/>
            <a:ext cx="1287475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823960" y="35021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809244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Current Sensor (ACS712)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logo_sim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777240" cy="777240"/>
          </a:xfrm>
          <a:prstGeom prst="rect">
            <a:avLst/>
          </a:prstGeom>
        </p:spPr>
      </p:pic>
      <p:pic>
        <p:nvPicPr>
          <p:cNvPr id="3" name="Image 1" descr="/home/claude/ppt/logo_s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56032"/>
            <a:ext cx="758952" cy="7772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3200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Module 2: Processing, Display and Threshold Logic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005840" y="1371600"/>
            <a:ext cx="69494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Feature Extraction: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The ESP32 (core controller) converts raw ADC samples into calibrated RMS voltage, current, power, and power factor values every sampling cycle.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Threshold Classification: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Live readings are compared against safe operating limits (e.g., below 207V = Sag, above 253V = Surge, above 5A = Overcurrent) to classify system status.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OLED Status Display: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The classified status (Normal / Sag / Surge / Overcurrent) plus live V, I, P, and PF values are shown locally on the OLED for on-site staff.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9006840" y="1554480"/>
            <a:ext cx="914400" cy="1371600"/>
          </a:xfrm>
          <a:prstGeom prst="rect">
            <a:avLst/>
          </a:prstGeom>
          <a:solidFill>
            <a:srgbClr val="2B2B2B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8924544" y="1613916"/>
            <a:ext cx="82296" cy="27432"/>
          </a:xfrm>
          <a:prstGeom prst="rect">
            <a:avLst/>
          </a:prstGeom>
          <a:solidFill>
            <a:srgbClr val="B0B0B0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9921240" y="1613916"/>
            <a:ext cx="82296" cy="27432"/>
          </a:xfrm>
          <a:prstGeom prst="rect">
            <a:avLst/>
          </a:prstGeom>
          <a:solidFill>
            <a:srgbClr val="B0B0B0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8924544" y="1858975"/>
            <a:ext cx="82296" cy="27432"/>
          </a:xfrm>
          <a:prstGeom prst="rect">
            <a:avLst/>
          </a:prstGeom>
          <a:solidFill>
            <a:srgbClr val="B0B0B0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9921240" y="1858975"/>
            <a:ext cx="82296" cy="27432"/>
          </a:xfrm>
          <a:prstGeom prst="rect">
            <a:avLst/>
          </a:prstGeom>
          <a:solidFill>
            <a:srgbClr val="B0B0B0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8924544" y="2104034"/>
            <a:ext cx="82296" cy="27432"/>
          </a:xfrm>
          <a:prstGeom prst="rect">
            <a:avLst/>
          </a:prstGeom>
          <a:solidFill>
            <a:srgbClr val="B0B0B0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9921240" y="2104034"/>
            <a:ext cx="82296" cy="27432"/>
          </a:xfrm>
          <a:prstGeom prst="rect">
            <a:avLst/>
          </a:prstGeom>
          <a:solidFill>
            <a:srgbClr val="B0B0B0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924544" y="2349094"/>
            <a:ext cx="82296" cy="27432"/>
          </a:xfrm>
          <a:prstGeom prst="rect">
            <a:avLst/>
          </a:prstGeom>
          <a:solidFill>
            <a:srgbClr val="B0B0B0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9921240" y="2349094"/>
            <a:ext cx="82296" cy="27432"/>
          </a:xfrm>
          <a:prstGeom prst="rect">
            <a:avLst/>
          </a:prstGeom>
          <a:solidFill>
            <a:srgbClr val="B0B0B0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924544" y="2594153"/>
            <a:ext cx="82296" cy="27432"/>
          </a:xfrm>
          <a:prstGeom prst="rect">
            <a:avLst/>
          </a:prstGeom>
          <a:solidFill>
            <a:srgbClr val="B0B0B0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9921240" y="2594153"/>
            <a:ext cx="82296" cy="27432"/>
          </a:xfrm>
          <a:prstGeom prst="rect">
            <a:avLst/>
          </a:prstGeom>
          <a:solidFill>
            <a:srgbClr val="B0B0B0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8924544" y="2839212"/>
            <a:ext cx="82296" cy="27432"/>
          </a:xfrm>
          <a:prstGeom prst="rect">
            <a:avLst/>
          </a:prstGeom>
          <a:solidFill>
            <a:srgbClr val="B0B0B0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9921240" y="2839212"/>
            <a:ext cx="82296" cy="27432"/>
          </a:xfrm>
          <a:prstGeom prst="rect">
            <a:avLst/>
          </a:prstGeom>
          <a:solidFill>
            <a:srgbClr val="B0B0B0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9006840" y="1554480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ESP32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836676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ESP32 Microcontroller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8549640" y="3657600"/>
            <a:ext cx="1828800" cy="1005840"/>
          </a:xfrm>
          <a:prstGeom prst="rect">
            <a:avLst/>
          </a:prstGeom>
          <a:solidFill>
            <a:srgbClr val="0D1B0D"/>
          </a:solidFill>
          <a:ln w="254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8732520" y="4009644"/>
            <a:ext cx="1463040" cy="301752"/>
          </a:xfrm>
          <a:prstGeom prst="wave">
            <a:avLst/>
          </a:prstGeom>
          <a:solidFill>
            <a:srgbClr val="39FF6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8366760" y="4937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OLED Display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7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logo_sim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777240" cy="777240"/>
          </a:xfrm>
          <a:prstGeom prst="rect">
            <a:avLst/>
          </a:prstGeom>
        </p:spPr>
      </p:pic>
      <p:pic>
        <p:nvPicPr>
          <p:cNvPr id="3" name="Image 1" descr="/home/claude/ppt/logo_s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56032"/>
            <a:ext cx="758952" cy="7772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3200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Module 3: Connectivity and Remote Alerts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005840" y="1371600"/>
            <a:ext cx="69494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Wi-Fi Connectivity: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The ESP32's built-in Wi-Fi pushes live sensor data to the cloud at regular intervals without any additional networking hardware.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Adafruit IO Dashboard: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Voltage, current, power, and status feeds are visualized on a live dashboard, giving managers remote, real-time visibility into the load's health.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Instant Alerts: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The moment a sag, surge, or overcurrent event is detected, an alert is pushed to the dashboard so staff can take immediate action - switch to backup power, unplug the load, or call a technician.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8839962" y="1096366"/>
            <a:ext cx="1248156" cy="1248156"/>
          </a:xfrm>
          <a:prstGeom prst="blockArc">
            <a:avLst>
              <a:gd name="adj1" fmla="val 13200000"/>
              <a:gd name="adj2" fmla="val 19200000"/>
              <a:gd name="adj3" fmla="val 8000"/>
            </a:avLst>
          </a:prstGeom>
          <a:solidFill>
            <a:srgbClr val="1F77B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9036101" y="1488643"/>
            <a:ext cx="855878" cy="855878"/>
          </a:xfrm>
          <a:prstGeom prst="blockArc">
            <a:avLst>
              <a:gd name="adj1" fmla="val 13200000"/>
              <a:gd name="adj2" fmla="val 19200000"/>
              <a:gd name="adj3" fmla="val 8000"/>
            </a:avLst>
          </a:prstGeom>
          <a:solidFill>
            <a:srgbClr val="1F77B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9226296" y="1869034"/>
            <a:ext cx="475488" cy="475488"/>
          </a:xfrm>
          <a:prstGeom prst="blockArc">
            <a:avLst>
              <a:gd name="adj1" fmla="val 13200000"/>
              <a:gd name="adj2" fmla="val 19200000"/>
              <a:gd name="adj3" fmla="val 8000"/>
            </a:avLst>
          </a:prstGeom>
          <a:solidFill>
            <a:srgbClr val="1F77B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9413748" y="2294230"/>
            <a:ext cx="100584" cy="100584"/>
          </a:xfrm>
          <a:prstGeom prst="ellipse">
            <a:avLst/>
          </a:prstGeom>
          <a:solidFill>
            <a:srgbClr val="1F77B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8366760" y="2743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Wi-Fi Connectivity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8549640" y="3429000"/>
            <a:ext cx="1737360" cy="1051560"/>
          </a:xfrm>
          <a:prstGeom prst="cloud">
            <a:avLst/>
          </a:prstGeom>
          <a:solidFill>
            <a:srgbClr val="D9E8FA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9731045" y="3344875"/>
            <a:ext cx="441655" cy="441655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9731045" y="3344875"/>
            <a:ext cx="441655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!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8366760" y="4709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Adafruit IO + Alerts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8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logo_sim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777240" cy="777240"/>
          </a:xfrm>
          <a:prstGeom prst="rect">
            <a:avLst/>
          </a:prstGeom>
        </p:spPr>
      </p:pic>
      <p:pic>
        <p:nvPicPr>
          <p:cNvPr id="3" name="Image 1" descr="/home/claude/ppt/logo_s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56032"/>
            <a:ext cx="758952" cy="7772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3200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Block Diagram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457200" y="2880360"/>
            <a:ext cx="1737360" cy="960120"/>
          </a:xfrm>
          <a:prstGeom prst="rect">
            <a:avLst/>
          </a:prstGeom>
          <a:solidFill>
            <a:srgbClr val="F4F7FB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02920" y="288036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AC MAINS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SUPPLY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2606040" y="2880360"/>
            <a:ext cx="1874520" cy="960120"/>
          </a:xfrm>
          <a:prstGeom prst="rect">
            <a:avLst/>
          </a:prstGeom>
          <a:solidFill>
            <a:srgbClr val="EAF1FB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651760" y="2880360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VOLTAGE &amp;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CURRENT SENSORS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892040" y="2880360"/>
            <a:ext cx="1920240" cy="960120"/>
          </a:xfrm>
          <a:prstGeom prst="rect">
            <a:avLst/>
          </a:prstGeom>
          <a:solidFill>
            <a:srgbClr val="EAF6EF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937760" y="288036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SIGNAL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CONDITIONING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7223760" y="2880360"/>
            <a:ext cx="2103120" cy="960120"/>
          </a:xfrm>
          <a:prstGeom prst="rect">
            <a:avLst/>
          </a:prstGeom>
          <a:solidFill>
            <a:srgbClr val="FFF3E0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269480" y="288036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ESP32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(PROCESSING &amp;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THRESHOLD LOGIC)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2194560" y="3360420"/>
            <a:ext cx="4114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480560" y="3360420"/>
            <a:ext cx="4114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812280" y="3360420"/>
            <a:ext cx="4114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8275320" y="3840480"/>
            <a:ext cx="0" cy="50292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5074920" y="4343400"/>
            <a:ext cx="320040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074920" y="4343400"/>
            <a:ext cx="0" cy="32004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8275320" y="4343400"/>
            <a:ext cx="0" cy="32004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4160520" y="4663440"/>
            <a:ext cx="1828800" cy="960120"/>
          </a:xfrm>
          <a:prstGeom prst="rect">
            <a:avLst/>
          </a:prstGeom>
          <a:solidFill>
            <a:srgbClr val="E8F1F1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4206240" y="466344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OLED DISPLAY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(LOCAL STATUS)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7360920" y="4663440"/>
            <a:ext cx="2103120" cy="960120"/>
          </a:xfrm>
          <a:prstGeom prst="rect">
            <a:avLst/>
          </a:prstGeom>
          <a:solidFill>
            <a:srgbClr val="FBEAEA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7406640" y="466344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WI-FI → ADAFRUIT IO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(REMOTE ALERT)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The system continuously repeats this sensing → processing → alerting cycle in real time.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Input (AC Mains) → Sensing → Signal Conditioning → Processing / Threshold Comparison → Local Display and Remote Cloud Alert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9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logo_sim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777240" cy="777240"/>
          </a:xfrm>
          <a:prstGeom prst="rect">
            <a:avLst/>
          </a:prstGeom>
        </p:spPr>
      </p:pic>
      <p:pic>
        <p:nvPicPr>
          <p:cNvPr id="3" name="Image 1" descr="/home/claude/ppt/logo_s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56032"/>
            <a:ext cx="758952" cy="7772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3200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2600" dirty="0"/>
          </a:p>
        </p:txBody>
      </p:sp>
      <p:pic>
        <p:nvPicPr>
          <p:cNvPr id="5" name="Image 2" descr="/home/claude/ppt/diagram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5416" y="1143000"/>
            <a:ext cx="7818120" cy="52120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logo_sim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777240" cy="777240"/>
          </a:xfrm>
          <a:prstGeom prst="rect">
            <a:avLst/>
          </a:prstGeom>
        </p:spPr>
      </p:pic>
      <p:pic>
        <p:nvPicPr>
          <p:cNvPr id="3" name="Image 1" descr="/home/claude/ppt/logo_s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56032"/>
            <a:ext cx="758952" cy="7772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3200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Real-World Application</a:t>
            </a:r>
            <a:endParaRPr lang="en-US" sz="2600" dirty="0"/>
          </a:p>
        </p:txBody>
      </p:sp>
      <p:sp>
        <p:nvSpPr>
          <p:cNvPr id="5" name="Text 1"/>
          <p:cNvSpPr/>
          <p:nvPr/>
        </p:nvSpPr>
        <p:spPr>
          <a:xfrm>
            <a:off x="1005840" y="1371600"/>
            <a:ext cx="10149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Deployment Scenario: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Placed on the power line feeding a pharmacy's medicine/vaccine fridge, the unit continuously watches voltage and current.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Instant Alerts: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Real-time notification the moment power quality degrades - no more discovering a spoiled fridge hours later.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Faster Response: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Staff can switch to backup power or unplug sensitive equipment within minutes of receiving an alert on their phone via Adafruit IO.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Reduced Loss: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Protects temperature-sensitive medicines and vaccines from spoilage caused by unnoticed power events.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logo_sim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777240" cy="777240"/>
          </a:xfrm>
          <a:prstGeom prst="rect">
            <a:avLst/>
          </a:prstGeom>
        </p:spPr>
      </p:pic>
      <p:pic>
        <p:nvPicPr>
          <p:cNvPr id="3" name="Image 1" descr="/home/claude/ppt/logo_s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56032"/>
            <a:ext cx="758952" cy="7772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3200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&amp; Discussion</a:t>
            </a:r>
            <a:endParaRPr lang="en-US" sz="2600" dirty="0"/>
          </a:p>
        </p:txBody>
      </p:sp>
      <p:sp>
        <p:nvSpPr>
          <p:cNvPr id="5" name="Text 1"/>
          <p:cNvSpPr/>
          <p:nvPr/>
        </p:nvSpPr>
        <p:spPr>
          <a:xfrm>
            <a:off x="1005840" y="1371600"/>
            <a:ext cx="10149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Accurate Sensing: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Bench testing with a low-voltage transformer and switchable loads confirmed the ESP32 correctly computed RMS voltage and current within acceptable tolerance.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Reliable Fault Detection: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Simulated sag, surge, and overcurrent events were correctly classified and reflected on the OLED and Adafruit IO dashboard within seconds.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Effective Remote Alerting: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Alerts pushed to the dashboard were visible on a mobile device in real time, validating the local and remote monitoring concept.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logo_sim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777240" cy="777240"/>
          </a:xfrm>
          <a:prstGeom prst="rect">
            <a:avLst/>
          </a:prstGeom>
        </p:spPr>
      </p:pic>
      <p:pic>
        <p:nvPicPr>
          <p:cNvPr id="3" name="Image 1" descr="/home/claude/ppt/logo_s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56032"/>
            <a:ext cx="758952" cy="7772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3200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Text 1"/>
          <p:cNvSpPr/>
          <p:nvPr/>
        </p:nvSpPr>
        <p:spPr>
          <a:xfrm>
            <a:off x="1005840" y="1371600"/>
            <a:ext cx="10149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Auto Protection Relay: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Add a relay module to automatically disconnect the load during severe faults, reducing dependence on manual staff response.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SD Card Data Logging: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Add local storage for long-term power quality history, useful for grid-reliability reporting to utility providers.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Multi-Node Deployment: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Scale to multiple units across a facility or multiple pharmacy branches, all reporting to one central dashboard.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Predictive Alerts: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Apply simple trend analysis to warn staff before a fault fully develops, not just after it occurs.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logo_sim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777240" cy="777240"/>
          </a:xfrm>
          <a:prstGeom prst="rect">
            <a:avLst/>
          </a:prstGeom>
        </p:spPr>
      </p:pic>
      <p:pic>
        <p:nvPicPr>
          <p:cNvPr id="3" name="Image 1" descr="/home/claude/ppt/logo_s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56032"/>
            <a:ext cx="758952" cy="7772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3200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Conclusion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005840" y="1371600"/>
            <a:ext cx="10149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Objective Achieved: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 working IoT-based power quality monitor was designed and implemented using an ESP32, voltage/current sensors, and an OLED display.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Validated Detection: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The system successfully detected simulated voltage sag, surge, and overcurrent conditions and reflected them locally and on a cloud dashboard.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5000"/>
              </a:lnSpc>
              <a:spcAft>
                <a:spcPts val="1400"/>
              </a:spcAft>
              <a:buSzPct val="1000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Real-World Relevance: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Applied to a pharmacy critical-load scenario, the system demonstrates a low-cost, practical way to protect temperature-sensitive medicines from power-related damage.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14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logo_sim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777240" cy="777240"/>
          </a:xfrm>
          <a:prstGeom prst="rect">
            <a:avLst/>
          </a:prstGeom>
        </p:spPr>
      </p:pic>
      <p:pic>
        <p:nvPicPr>
          <p:cNvPr id="3" name="Image 1" descr="/home/claude/ppt/logo_s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56032"/>
            <a:ext cx="758952" cy="7772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3200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1"/>
          <p:cNvSpPr/>
          <p:nvPr/>
        </p:nvSpPr>
        <p:spPr>
          <a:xfrm>
            <a:off x="1005840" y="1371600"/>
            <a:ext cx="10149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Kavitha, S., &amp; Rao, P. (2020). IoT-Based Real-Time Power Quality Monitoring Using ESP32. International Journal of Embedded Systems.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Patel, R., &amp; Mehta, A. (2019). Low-Cost Voltage and Current Sensing for Embedded Power Monitors. IEEE International Conference on Smart Systems.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Zhou, Y., &amp; Lee, H. (2021). Smart Grid Power Quality Analytics for Voltage Sag and Surge Detection. Journal of Power and Energy Engineering.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Reddy, K., &amp; Sharma, N. (2022). IoT-Based Cold-Chain Monitoring for Vaccine Storage. International Journal of Advanced Research in Electronics and Communication Engineering.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lnSpc>
                <a:spcPct val="130000"/>
              </a:lnSpc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Fernandes, J., &amp; Silva, M. (2018). Relay-Based Automatic Load Protection Systems for Unstable Grid Conditions. Journal of Control and Automation Engineering.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logo_sim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777240" cy="777240"/>
          </a:xfrm>
          <a:prstGeom prst="rect">
            <a:avLst/>
          </a:prstGeom>
        </p:spPr>
      </p:pic>
      <p:pic>
        <p:nvPicPr>
          <p:cNvPr id="3" name="Image 1" descr="/home/claude/ppt/logo_s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56032"/>
            <a:ext cx="758952" cy="7772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 &amp; Discussion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1413</Words>
  <Application>Microsoft Office PowerPoint</Application>
  <PresentationFormat>Widescreen</PresentationFormat>
  <Paragraphs>147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Pavan Deekshith Konjeti</cp:lastModifiedBy>
  <cp:revision>2</cp:revision>
  <dcterms:created xsi:type="dcterms:W3CDTF">2026-08-05T05:59:02Z</dcterms:created>
  <dcterms:modified xsi:type="dcterms:W3CDTF">2026-08-05T06:23:59Z</dcterms:modified>
</cp:coreProperties>
</file>